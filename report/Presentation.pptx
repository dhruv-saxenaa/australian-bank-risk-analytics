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AUSTRALIAN BANK RISK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Portfolio Optimization — A 25-Year Empirical Study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  ·  NAB  ·  WBC  ·  ANZ  ·  MQG   vs   ASX200 Accumulation Index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177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7 — Final Synthesis  |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  <a:p>
            <a:pPr algn="l" indent="0" marL="0">
              <a:buNone/>
            </a:pPr>
            <a:r>
              <a:rPr lang="en-US" sz="19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Australia's major banks differ in market risk, tail risk, and systematic risk over a 25-year period spanning multiple crises — and can mean-variance portfolio optimisation improve risk-adjusted outcomes, robustly?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943600" y="1234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070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return, volatility &amp; tail risk per bank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9842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systematic risk via CAPM + full diagnostics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2788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7614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beta across GFC, COVID-19 &amp; rate-hike regimes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5661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5387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equal-weight, min-variance &amp; max-Sharpe portfolios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0" y="4343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3159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out-of-sample and under stress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0" y="5120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50932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robustness across 3 estimation windows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Australian Banking Sector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97480" cy="146304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yrs</a:t>
            </a: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2001–2026 sample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91840" y="1234440"/>
            <a:ext cx="2697480" cy="146304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2344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+ 1</a:t>
            </a: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CBA, NAB, WBC, ANZ + Macquarie Group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126480" y="1234440"/>
            <a:ext cx="2697480" cy="146304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2344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6,293</a:t>
            </a: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961120" y="1234440"/>
            <a:ext cx="2697480" cy="146304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0" y="12344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ASX200</a:t>
            </a: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Index benchmark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major retail banks plus Macquarie Group make up a large share of the ASX200's market capitalisation and dividend income, and are widely held both directly (partly for franking-credit income) and indirectly through superannuation — an unusually concentrated sector by international standards.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80960" y="2971800"/>
            <a:ext cx="4023360" cy="2103120"/>
          </a:xfrm>
          <a:prstGeom prst="rect">
            <a:avLst/>
          </a:prstGeom>
          <a:solidFill>
            <a:srgbClr val="F2F4FA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source: Yahoo Finance (yfinance), adjusted close.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ASX200 Accumulation (Total Return) Index.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proxy: RBA cash rate, mean 3.38% p.a.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data across the regression sample.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25-Year Performance Overview</a:t>
            </a:r>
            <a:endParaRPr lang="en-US" sz="3000" dirty="0"/>
          </a:p>
        </p:txBody>
      </p:sp>
      <p:pic>
        <p:nvPicPr>
          <p:cNvPr id="3" name="Image 0" descr="/mnt/user-data/uploads/normalised_price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589520" cy="3760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1188720"/>
            <a:ext cx="3410712" cy="5120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595360" y="1463040"/>
            <a:ext cx="2880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MQG
</a:t>
            </a:r>
            <a:endParaRPr lang="en-US" sz="2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return AND worst risk</a:t>
            </a:r>
            <a:endParaRPr lang="en-US" sz="26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 p.a. return
</a:t>
            </a:r>
            <a:endParaRPr lang="en-US" sz="2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 volatility (vs 22–24% for the others)
</a:t>
            </a:r>
            <a:endParaRPr lang="en-US" sz="2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−81.7% max drawdown</a:t>
            </a:r>
            <a:endParaRPr lang="en-US" sz="260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 was the weakest of the 4 majors: lowest return, highest volatility.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Risk: VaR, Expected Shortfall &amp; Drawdown</a:t>
            </a:r>
            <a:endParaRPr lang="en-US" sz="3000" dirty="0"/>
          </a:p>
        </p:txBody>
      </p:sp>
      <p:pic>
        <p:nvPicPr>
          <p:cNvPr id="3" name="Image 0" descr="/home/claude/extracted_figures/var_e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486400" cy="3492298"/>
          </a:xfrm>
          <a:prstGeom prst="rect">
            <a:avLst/>
          </a:prstGeom>
        </p:spPr>
      </p:pic>
      <p:pic>
        <p:nvPicPr>
          <p:cNvPr id="4" name="Image 1" descr="/mnt/user-data/uploads/bank_drawdow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27187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0936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ES99 exceeds VaR99 by ~45–50% for every bank — VaR alone understates true tail risk.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CAPM &amp; Econometric Results</a:t>
            </a:r>
            <a:endParaRPr lang="en-US" sz="3000" dirty="0"/>
          </a:p>
        </p:txBody>
      </p:sp>
      <p:pic>
        <p:nvPicPr>
          <p:cNvPr id="3" name="Image 0" descr="/home/claude/extracted_figures/capm_regression_scatter_C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3583373"/>
          </a:xfrm>
          <a:prstGeom prst="rect">
            <a:avLst/>
          </a:prstGeom>
        </p:spPr>
      </p:pic>
      <p:pic>
        <p:nvPicPr>
          <p:cNvPr id="4" name="Image 1" descr="/mnt/user-data/uploads/capm_beta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394960" cy="32055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F2F4F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betas &gt; 1 and highly significant (t = 73–88)  •  All 5 alphas statistically insignificant (p &gt; 0.08)  •  R² ≈ 0.46–0.55 — the market factor explains only about half of daily return variance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Frontier</a:t>
            </a:r>
            <a:endParaRPr lang="en-US" sz="3000" dirty="0"/>
          </a:p>
        </p:txBody>
      </p:sp>
      <p:pic>
        <p:nvPicPr>
          <p:cNvPr id="3" name="Image 0" descr="/home/claude/extracted_figures/049_efficient_frontier_australian_bank_portfol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949440" cy="491821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1280160"/>
            <a:ext cx="3867912" cy="50292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2"/>
          <p:cNvSpPr/>
          <p:nvPr/>
        </p:nvSpPr>
        <p:spPr>
          <a:xfrm>
            <a:off x="8138160" y="155448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simulated feasible portfolios
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3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target-return optimisations trace the analytical frontier
</a:t>
            </a:r>
            <a:endParaRPr lang="en-US" sz="30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</a:t>
            </a:r>
            <a:endParaRPr lang="en-US" sz="30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random-search Sharpe (0.522) sits within 0.003 of the optimiser's result (0.524)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Portfolio Comparison</a:t>
            </a:r>
            <a:endParaRPr lang="en-US" sz="3000" dirty="0"/>
          </a:p>
        </p:txBody>
      </p:sp>
      <p:pic>
        <p:nvPicPr>
          <p:cNvPr id="3" name="Image 0" descr="/home/claude/extracted_figures/038_portfolio_weights_equal_weight_vs_optimised_portfol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035040" cy="3502635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71600"/>
          <a:ext cx="4937760" cy="164592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766560" y="3246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Max-Sharpe hits the 40% cap on both CBA and MQG — 80% of the portfolio in two of five banks.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766560" y="4206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Min-variance cuts volatility below equal-weight at almost no return cost — a genuine, if modest, diversification gain.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Out-of-Sample Performance (2021–2026)</a:t>
            </a:r>
            <a:endParaRPr lang="en-US" sz="3000" dirty="0"/>
          </a:p>
        </p:txBody>
      </p:sp>
      <p:pic>
        <p:nvPicPr>
          <p:cNvPr id="3" name="Image 0" descr="/home/claude/extracted_figures/101_out_of_sample_cumulative_portfolio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949440" cy="42924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1371600"/>
            <a:ext cx="3867912" cy="4846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138160" y="155448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ranking flips.
</a:t>
            </a:r>
            <a:endParaRPr lang="en-US" sz="20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Full-sample hindsight (2001–26): Max-Sharpe wins
</a:t>
            </a:r>
            <a:endParaRPr lang="en-US" sz="20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0.524 vs 0.457 (Min-Var)
</a:t>
            </a:r>
            <a:endParaRPr lang="en-US" sz="20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OOS — trained 2001–20 only, frozen, tested 2021–26: Min-Var wins
</a:t>
            </a:r>
            <a:endParaRPr lang="en-US" sz="20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 vs 0.848 (Max-Sharpe)
</a:t>
            </a:r>
            <a:endParaRPr lang="en-US" sz="200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two separate optimisations, not the same weights re-tested — the OOS weights never see 2021–26 data. Classic estimation-error risk: Max-Sharpe depends on noisy mean-return forecasts; Min-Variance depends only on the more stable covariance matrix.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Testing &amp; Robustness</a:t>
            </a:r>
            <a:endParaRPr lang="en-US" sz="3000" dirty="0"/>
          </a:p>
        </p:txBody>
      </p:sp>
      <p:pic>
        <p:nvPicPr>
          <p:cNvPr id="3" name="Image 0" descr="/home/claude/extracted_figures/differentiated_stress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120640" cy="4096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shock: −10% majors, −25% MQG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25880"/>
          <a:ext cx="5212080" cy="155448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Variance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-10.85%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Sharpe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92240" y="3063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instability across 3 re-estimation windows (total abs. weight change vs full sample):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611880"/>
          <a:ext cx="5212080" cy="128016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2001–15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2016–26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2021–26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Min-Var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Max-Sharpe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649224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MQG's Max-Sharpe weight alone swings from 0% to 40% depending on the estimation window.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banks: β &gt; 1, α ≈ 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361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systematic risk; no statistically significant CAPM alpha detected for any bank.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2219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762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MQG is a structural outlier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52374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return, volatility (32.5%), beta (1.40) and drawdown (−81.7%) of the five.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2095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16382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is regime-dependent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51129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for every bank in COVID-19; fell for 4 of 5 banks during the 2022–24 rate-hike cycle.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197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15137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Min-variance beats naive weighting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4988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volatility at almost no return cost — a genuine diversification gain.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5184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51389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Max-Sharpe's edge doesn't survive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54864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full-sample hindsight (0.524), but most concentrated, worst under stress (−16.0%), and beaten in a genuinely disjoint OOS test by Min-Variance.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92240" cy="4937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
</a:t>
            </a:r>
            <a:endParaRPr lang="en-US" sz="180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Mean-variance optimisation identifies genuine diversification gains over naive equal-weighting through the minimum-variance portfolio. But the higher-Sharpe maximum-Sharpe solution should not be mistaken for a robust one: its edge is concentrated in two banks, reverses out-of-sample, and is the least stable allocation across every re-estimation window tested.
</a:t>
            </a:r>
            <a:endParaRPr lang="en-US" sz="1800" dirty="0"/>
          </a:p>
          <a:p>
            <a:pPr algn="l" indent="0" marL="0">
              <a:buNone/>
            </a:pPr>
            <a:r>
              <a:rPr lang="en-US" sz="14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Backward-looking, full-sample Sharpe-ratio optimisation alone is not sufficient grounds for portfolio construction.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23760" y="1188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23760" y="1691640"/>
            <a:ext cx="4480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explains ~50% of variance — a single-factor simplification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is sensitive to estimated inputs, esp. expected returns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 assumes the past informs future tail risk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scenarios are hypothetical, not modelled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only — excludes credit, liquidity &amp; operational risk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windows partly overlap the OOS test period (see notes)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2026-09-15T23:42:38Z</dcterms:created>
  <dcterms:modified xsi:type="dcterms:W3CDTF">2026-09-15T23:42:38Z</dcterms:modified>
</cp:coreProperties>
</file>